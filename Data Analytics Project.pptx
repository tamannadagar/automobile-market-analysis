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5B4582-00D1-472A-84C1-23D0DCC969A7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6CC2B-3988-45ED-B6A5-159D28B8F080}" v="18" dt="2026-07-17T14:02:45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nna Dagar" userId="6c183eba13bb4079" providerId="LiveId" clId="{C84B7787-A8E5-44C8-BD32-917C48AB8494}"/>
    <pc:docChg chg="undo custSel addSld delSld modSld modSection">
      <pc:chgData name="Tamanna Dagar" userId="6c183eba13bb4079" providerId="LiveId" clId="{C84B7787-A8E5-44C8-BD32-917C48AB8494}" dt="2026-07-17T14:03:55.897" v="637" actId="1076"/>
      <pc:docMkLst>
        <pc:docMk/>
      </pc:docMkLst>
      <pc:sldChg chg="addSp delSp modSp mod">
        <pc:chgData name="Tamanna Dagar" userId="6c183eba13bb4079" providerId="LiveId" clId="{C84B7787-A8E5-44C8-BD32-917C48AB8494}" dt="2026-07-15T14:34:16.923" v="15" actId="14100"/>
        <pc:sldMkLst>
          <pc:docMk/>
          <pc:sldMk cId="379111949" sldId="261"/>
        </pc:sldMkLst>
        <pc:picChg chg="add mod">
          <ac:chgData name="Tamanna Dagar" userId="6c183eba13bb4079" providerId="LiveId" clId="{C84B7787-A8E5-44C8-BD32-917C48AB8494}" dt="2026-07-15T14:34:16.923" v="15" actId="14100"/>
          <ac:picMkLst>
            <pc:docMk/>
            <pc:sldMk cId="379111949" sldId="261"/>
            <ac:picMk id="9" creationId="{07C0E9A0-C847-B119-B251-E751259754E7}"/>
          </ac:picMkLst>
        </pc:picChg>
      </pc:sldChg>
      <pc:sldChg chg="addSp modSp mod">
        <pc:chgData name="Tamanna Dagar" userId="6c183eba13bb4079" providerId="LiveId" clId="{C84B7787-A8E5-44C8-BD32-917C48AB8494}" dt="2026-07-15T14:42:43.136" v="26" actId="12"/>
        <pc:sldMkLst>
          <pc:docMk/>
          <pc:sldMk cId="3710157376" sldId="264"/>
        </pc:sldMkLst>
        <pc:spChg chg="add mod">
          <ac:chgData name="Tamanna Dagar" userId="6c183eba13bb4079" providerId="LiveId" clId="{C84B7787-A8E5-44C8-BD32-917C48AB8494}" dt="2026-07-15T14:42:30.370" v="24" actId="12"/>
          <ac:spMkLst>
            <pc:docMk/>
            <pc:sldMk cId="3710157376" sldId="264"/>
            <ac:spMk id="3" creationId="{71A914BA-801B-B039-4E6B-FA262190385D}"/>
          </ac:spMkLst>
        </pc:spChg>
        <pc:spChg chg="add mod">
          <ac:chgData name="Tamanna Dagar" userId="6c183eba13bb4079" providerId="LiveId" clId="{C84B7787-A8E5-44C8-BD32-917C48AB8494}" dt="2026-07-15T14:42:43.136" v="26" actId="12"/>
          <ac:spMkLst>
            <pc:docMk/>
            <pc:sldMk cId="3710157376" sldId="264"/>
            <ac:spMk id="4" creationId="{8B5BE3BA-D7EC-F743-21A5-BE2767C589C4}"/>
          </ac:spMkLst>
        </pc:spChg>
      </pc:sldChg>
      <pc:sldChg chg="addSp modSp new mod">
        <pc:chgData name="Tamanna Dagar" userId="6c183eba13bb4079" providerId="LiveId" clId="{C84B7787-A8E5-44C8-BD32-917C48AB8494}" dt="2026-07-17T14:00:57.392" v="618" actId="1076"/>
        <pc:sldMkLst>
          <pc:docMk/>
          <pc:sldMk cId="3405735355" sldId="265"/>
        </pc:sldMkLst>
        <pc:spChg chg="mod">
          <ac:chgData name="Tamanna Dagar" userId="6c183eba13bb4079" providerId="LiveId" clId="{C84B7787-A8E5-44C8-BD32-917C48AB8494}" dt="2026-07-15T14:48:36.986" v="54" actId="14100"/>
          <ac:spMkLst>
            <pc:docMk/>
            <pc:sldMk cId="3405735355" sldId="265"/>
            <ac:spMk id="2" creationId="{AB63B29C-1A50-9C3E-613C-A0D52248F9B4}"/>
          </ac:spMkLst>
        </pc:spChg>
        <pc:spChg chg="add mod">
          <ac:chgData name="Tamanna Dagar" userId="6c183eba13bb4079" providerId="LiveId" clId="{C84B7787-A8E5-44C8-BD32-917C48AB8494}" dt="2026-07-17T14:00:57.392" v="618" actId="1076"/>
          <ac:spMkLst>
            <pc:docMk/>
            <pc:sldMk cId="3405735355" sldId="265"/>
            <ac:spMk id="3" creationId="{F4E9B42E-B5BA-175A-3442-A2BE6A9300D2}"/>
          </ac:spMkLst>
        </pc:spChg>
      </pc:sldChg>
      <pc:sldChg chg="addSp delSp modSp new mod">
        <pc:chgData name="Tamanna Dagar" userId="6c183eba13bb4079" providerId="LiveId" clId="{C84B7787-A8E5-44C8-BD32-917C48AB8494}" dt="2026-07-15T14:54:13.199" v="99" actId="1076"/>
        <pc:sldMkLst>
          <pc:docMk/>
          <pc:sldMk cId="1336195972" sldId="266"/>
        </pc:sldMkLst>
        <pc:spChg chg="mod">
          <ac:chgData name="Tamanna Dagar" userId="6c183eba13bb4079" providerId="LiveId" clId="{C84B7787-A8E5-44C8-BD32-917C48AB8494}" dt="2026-07-15T14:49:22.366" v="81" actId="14100"/>
          <ac:spMkLst>
            <pc:docMk/>
            <pc:sldMk cId="1336195972" sldId="266"/>
            <ac:spMk id="2" creationId="{1D899AF9-8A69-DC48-7654-2CE0E501B4D5}"/>
          </ac:spMkLst>
        </pc:spChg>
        <pc:spChg chg="add mod">
          <ac:chgData name="Tamanna Dagar" userId="6c183eba13bb4079" providerId="LiveId" clId="{C84B7787-A8E5-44C8-BD32-917C48AB8494}" dt="2026-07-15T14:50:24.342" v="84" actId="12"/>
          <ac:spMkLst>
            <pc:docMk/>
            <pc:sldMk cId="1336195972" sldId="266"/>
            <ac:spMk id="3" creationId="{07EBCF4B-F9EC-32FD-E92C-1470F8638B34}"/>
          </ac:spMkLst>
        </pc:spChg>
        <pc:picChg chg="add mod">
          <ac:chgData name="Tamanna Dagar" userId="6c183eba13bb4079" providerId="LiveId" clId="{C84B7787-A8E5-44C8-BD32-917C48AB8494}" dt="2026-07-15T14:54:13.199" v="99" actId="1076"/>
          <ac:picMkLst>
            <pc:docMk/>
            <pc:sldMk cId="1336195972" sldId="266"/>
            <ac:picMk id="8" creationId="{A172E173-ACED-ED26-6A45-75F69A0CB89E}"/>
          </ac:picMkLst>
        </pc:picChg>
      </pc:sldChg>
      <pc:sldChg chg="addSp modSp new mod">
        <pc:chgData name="Tamanna Dagar" userId="6c183eba13bb4079" providerId="LiveId" clId="{C84B7787-A8E5-44C8-BD32-917C48AB8494}" dt="2026-07-15T14:56:22.863" v="137" actId="1076"/>
        <pc:sldMkLst>
          <pc:docMk/>
          <pc:sldMk cId="1264781923" sldId="267"/>
        </pc:sldMkLst>
        <pc:spChg chg="mod">
          <ac:chgData name="Tamanna Dagar" userId="6c183eba13bb4079" providerId="LiveId" clId="{C84B7787-A8E5-44C8-BD32-917C48AB8494}" dt="2026-07-15T14:55:07.977" v="129" actId="14100"/>
          <ac:spMkLst>
            <pc:docMk/>
            <pc:sldMk cId="1264781923" sldId="267"/>
            <ac:spMk id="2" creationId="{80DDB89C-2782-14EA-1703-F5E3115ECD76}"/>
          </ac:spMkLst>
        </pc:spChg>
        <pc:spChg chg="add mod">
          <ac:chgData name="Tamanna Dagar" userId="6c183eba13bb4079" providerId="LiveId" clId="{C84B7787-A8E5-44C8-BD32-917C48AB8494}" dt="2026-07-15T14:56:22.863" v="137" actId="1076"/>
          <ac:spMkLst>
            <pc:docMk/>
            <pc:sldMk cId="1264781923" sldId="267"/>
            <ac:spMk id="3" creationId="{CA0597B1-BEC7-DAC6-5A38-29F37D1AC4E8}"/>
          </ac:spMkLst>
        </pc:spChg>
      </pc:sldChg>
      <pc:sldChg chg="addSp modSp new mod">
        <pc:chgData name="Tamanna Dagar" userId="6c183eba13bb4079" providerId="LiveId" clId="{C84B7787-A8E5-44C8-BD32-917C48AB8494}" dt="2026-07-15T15:07:16.900" v="301" actId="14100"/>
        <pc:sldMkLst>
          <pc:docMk/>
          <pc:sldMk cId="3595712790" sldId="268"/>
        </pc:sldMkLst>
        <pc:spChg chg="mod">
          <ac:chgData name="Tamanna Dagar" userId="6c183eba13bb4079" providerId="LiveId" clId="{C84B7787-A8E5-44C8-BD32-917C48AB8494}" dt="2026-07-15T15:00:28.072" v="160" actId="122"/>
          <ac:spMkLst>
            <pc:docMk/>
            <pc:sldMk cId="3595712790" sldId="268"/>
            <ac:spMk id="2" creationId="{7C86CBAC-CB25-0481-3C2D-7354F15BBEEF}"/>
          </ac:spMkLst>
        </pc:spChg>
        <pc:spChg chg="add mod">
          <ac:chgData name="Tamanna Dagar" userId="6c183eba13bb4079" providerId="LiveId" clId="{C84B7787-A8E5-44C8-BD32-917C48AB8494}" dt="2026-07-15T15:07:16.900" v="301" actId="14100"/>
          <ac:spMkLst>
            <pc:docMk/>
            <pc:sldMk cId="3595712790" sldId="268"/>
            <ac:spMk id="3" creationId="{64B02B4B-E504-2760-0C96-921D8E7CCA40}"/>
          </ac:spMkLst>
        </pc:spChg>
      </pc:sldChg>
      <pc:sldChg chg="new del">
        <pc:chgData name="Tamanna Dagar" userId="6c183eba13bb4079" providerId="LiveId" clId="{C84B7787-A8E5-44C8-BD32-917C48AB8494}" dt="2026-07-17T13:54:56.616" v="303" actId="680"/>
        <pc:sldMkLst>
          <pc:docMk/>
          <pc:sldMk cId="1978766315" sldId="269"/>
        </pc:sldMkLst>
      </pc:sldChg>
      <pc:sldChg chg="addSp delSp modSp new mod">
        <pc:chgData name="Tamanna Dagar" userId="6c183eba13bb4079" providerId="LiveId" clId="{C84B7787-A8E5-44C8-BD32-917C48AB8494}" dt="2026-07-17T14:03:55.897" v="637" actId="1076"/>
        <pc:sldMkLst>
          <pc:docMk/>
          <pc:sldMk cId="2619059091" sldId="269"/>
        </pc:sldMkLst>
        <pc:spChg chg="add del mod">
          <ac:chgData name="Tamanna Dagar" userId="6c183eba13bb4079" providerId="LiveId" clId="{C84B7787-A8E5-44C8-BD32-917C48AB8494}" dt="2026-07-17T14:02:36.060" v="621" actId="478"/>
          <ac:spMkLst>
            <pc:docMk/>
            <pc:sldMk cId="2619059091" sldId="269"/>
            <ac:spMk id="2" creationId="{2C9308B7-EBA5-91F6-C6F6-6A718025E14D}"/>
          </ac:spMkLst>
        </pc:spChg>
        <pc:spChg chg="add mod">
          <ac:chgData name="Tamanna Dagar" userId="6c183eba13bb4079" providerId="LiveId" clId="{C84B7787-A8E5-44C8-BD32-917C48AB8494}" dt="2026-07-17T14:03:55.897" v="637" actId="1076"/>
          <ac:spMkLst>
            <pc:docMk/>
            <pc:sldMk cId="2619059091" sldId="269"/>
            <ac:spMk id="3" creationId="{5AF97EB0-1A9F-EB98-F71E-F54FEA6326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3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9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63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86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59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0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53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77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74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75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359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980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8454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15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96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6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444E3-19F1-4DDF-9D02-362210ABFEC8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FFF791-3E15-4A23-80F9-A2E00CFB6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8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030E-B322-0507-449E-D33FE0023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595" y="700635"/>
            <a:ext cx="4481645" cy="398172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DaunPenh" panose="020F0502020204030204" pitchFamily="2" charset="0"/>
                <a:cs typeface="DaunPenh" panose="020F0502020204030204" pitchFamily="2" charset="0"/>
              </a:rPr>
              <a:t>Data Analytics Project </a:t>
            </a:r>
            <a:br>
              <a:rPr lang="en-IN" sz="3200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Automobile Market Analysis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4DFB0-511A-BD3A-7674-BFB95D3E6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595" y="5313910"/>
            <a:ext cx="4744065" cy="843455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Presented By- Tamanna Dagar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 descr="CompTIA's New Data Analytics Certification - Intellectual Point">
            <a:extLst>
              <a:ext uri="{FF2B5EF4-FFF2-40B4-BE49-F238E27FC236}">
                <a16:creationId xmlns:a16="http://schemas.microsoft.com/office/drawing/2014/main" id="{BB4EB60D-542C-E6A2-6770-345CF8C5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39039"/>
            <a:ext cx="5523186" cy="30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4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72A4A-A539-DB5F-4966-25E41D5BA188}"/>
              </a:ext>
            </a:extLst>
          </p:cNvPr>
          <p:cNvSpPr txBox="1"/>
          <p:nvPr/>
        </p:nvSpPr>
        <p:spPr>
          <a:xfrm>
            <a:off x="6274677" y="1166648"/>
            <a:ext cx="554946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/>
                </a:solidFill>
              </a:rPr>
              <a:t>Project </a:t>
            </a:r>
          </a:p>
          <a:p>
            <a:r>
              <a:rPr lang="en-US" sz="4800" dirty="0">
                <a:solidFill>
                  <a:schemeClr val="accent2"/>
                </a:solidFill>
              </a:rPr>
              <a:t>Overview</a:t>
            </a:r>
          </a:p>
          <a:p>
            <a:endParaRPr lang="en-US" sz="1400" dirty="0">
              <a:solidFill>
                <a:schemeClr val="accent2"/>
              </a:solidFill>
            </a:endParaRPr>
          </a:p>
          <a:p>
            <a:r>
              <a:rPr lang="en-IN" sz="2800" b="1" dirty="0"/>
              <a:t>Business Problem</a:t>
            </a:r>
          </a:p>
          <a:p>
            <a:r>
              <a:rPr lang="en-IN" sz="1400" dirty="0"/>
              <a:t>The automobile resale market generates a large volume of transaction data every day. Businesses need to understand pricing trends, customer demand, seller performance, and factors affecting resale value to make informed decisions.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2400" b="1" dirty="0"/>
              <a:t>Project Goal</a:t>
            </a:r>
          </a:p>
          <a:p>
            <a:r>
              <a:rPr lang="en-IN" sz="1400" dirty="0"/>
              <a:t>Develop an end-to-end analytics solution to identify pricing trends, evaluate market performance, and generate actionable business insights using Python, SQL, Statistics, and Power BI.</a:t>
            </a:r>
          </a:p>
          <a:p>
            <a:endParaRPr lang="en-IN" sz="1400" dirty="0"/>
          </a:p>
          <a:p>
            <a:endParaRPr lang="en-IN" sz="1400" dirty="0">
              <a:solidFill>
                <a:schemeClr val="accent2"/>
              </a:solidFill>
            </a:endParaRPr>
          </a:p>
        </p:txBody>
      </p:sp>
      <p:pic>
        <p:nvPicPr>
          <p:cNvPr id="5" name="Picture 4" descr="Driving into Tomorrow: Exploring Trends in Automobile Technology | BMW of  West Springfield">
            <a:extLst>
              <a:ext uri="{FF2B5EF4-FFF2-40B4-BE49-F238E27FC236}">
                <a16:creationId xmlns:a16="http://schemas.microsoft.com/office/drawing/2014/main" id="{BBB767E9-9778-AF3A-E686-F172D126B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82" y="2182973"/>
            <a:ext cx="4303001" cy="313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5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E635-8087-0799-0726-AEF80774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797530"/>
            <a:ext cx="8911687" cy="983973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400" dirty="0"/>
              <a:t>Project Objectives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1453A-5BF7-9D82-048F-69F4493913DF}"/>
              </a:ext>
            </a:extLst>
          </p:cNvPr>
          <p:cNvSpPr txBox="1"/>
          <p:nvPr/>
        </p:nvSpPr>
        <p:spPr>
          <a:xfrm>
            <a:off x="3836276" y="1939158"/>
            <a:ext cx="83557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Clean and preprocess the automobile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Improve data quality using feature engineering.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pricing trends and market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Validate business assumptions using statistical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Perform business analysis using 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Build interactive Power BI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Generate strategic business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47427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C281-47F0-E86B-2EAE-2D189622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642" y="624110"/>
            <a:ext cx="5060730" cy="952442"/>
          </a:xfrm>
        </p:spPr>
        <p:txBody>
          <a:bodyPr>
            <a:normAutofit/>
          </a:bodyPr>
          <a:lstStyle/>
          <a:p>
            <a:r>
              <a:rPr lang="en-US" sz="4000" dirty="0" err="1"/>
              <a:t>DataSet</a:t>
            </a:r>
            <a:r>
              <a:rPr lang="en-US" sz="4000" dirty="0"/>
              <a:t> Overview 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F911F-A323-AFD1-CB22-FC381FC1B6F1}"/>
              </a:ext>
            </a:extLst>
          </p:cNvPr>
          <p:cNvSpPr txBox="1"/>
          <p:nvPr/>
        </p:nvSpPr>
        <p:spPr>
          <a:xfrm>
            <a:off x="2175641" y="1781503"/>
            <a:ext cx="490307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Dataset Size</a:t>
            </a:r>
          </a:p>
          <a:p>
            <a:r>
              <a:rPr lang="en-IN" dirty="0"/>
              <a:t>Approximately </a:t>
            </a:r>
            <a:r>
              <a:rPr lang="en-IN" b="1" dirty="0"/>
              <a:t>5,58,837</a:t>
            </a:r>
            <a:r>
              <a:rPr lang="en-IN" dirty="0"/>
              <a:t> Vehicle Records</a:t>
            </a:r>
          </a:p>
          <a:p>
            <a:endParaRPr lang="en-IN" dirty="0"/>
          </a:p>
          <a:p>
            <a:r>
              <a:rPr lang="en-IN" b="1" dirty="0"/>
              <a:t>Major Attributes</a:t>
            </a:r>
          </a:p>
          <a:p>
            <a:r>
              <a:rPr lang="en-IN" dirty="0"/>
              <a:t>Make</a:t>
            </a:r>
          </a:p>
          <a:p>
            <a:r>
              <a:rPr lang="en-IN" dirty="0"/>
              <a:t>Selling Price</a:t>
            </a:r>
          </a:p>
          <a:p>
            <a:r>
              <a:rPr lang="en-IN" dirty="0"/>
              <a:t>Model</a:t>
            </a:r>
          </a:p>
          <a:p>
            <a:r>
              <a:rPr lang="en-IN" dirty="0"/>
              <a:t>Year </a:t>
            </a:r>
          </a:p>
          <a:p>
            <a:r>
              <a:rPr lang="en-IN" dirty="0"/>
              <a:t>Body Type</a:t>
            </a:r>
          </a:p>
          <a:p>
            <a:r>
              <a:rPr lang="en-IN" dirty="0"/>
              <a:t>Transmission </a:t>
            </a:r>
          </a:p>
          <a:p>
            <a:r>
              <a:rPr lang="en-IN" dirty="0"/>
              <a:t>Seller </a:t>
            </a:r>
          </a:p>
          <a:p>
            <a:r>
              <a:rPr lang="en-IN" dirty="0"/>
              <a:t>State</a:t>
            </a:r>
          </a:p>
          <a:p>
            <a:r>
              <a:rPr lang="en-IN" dirty="0"/>
              <a:t>Odometer</a:t>
            </a:r>
          </a:p>
          <a:p>
            <a:r>
              <a:rPr lang="en-IN" dirty="0"/>
              <a:t>Vehicle Condition</a:t>
            </a:r>
          </a:p>
          <a:p>
            <a:r>
              <a:rPr lang="en-IN" dirty="0"/>
              <a:t>Sale Date</a:t>
            </a:r>
          </a:p>
          <a:p>
            <a:r>
              <a:rPr lang="en-IN" dirty="0"/>
              <a:t>MMR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E2A1B-001E-1B00-BD82-2C88B5199977}"/>
              </a:ext>
            </a:extLst>
          </p:cNvPr>
          <p:cNvSpPr txBox="1"/>
          <p:nvPr/>
        </p:nvSpPr>
        <p:spPr>
          <a:xfrm>
            <a:off x="4966138" y="2587778"/>
            <a:ext cx="45993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Engineered Features</a:t>
            </a:r>
          </a:p>
          <a:p>
            <a:r>
              <a:rPr lang="en-IN" dirty="0"/>
              <a:t>Vehicle Age </a:t>
            </a:r>
          </a:p>
          <a:p>
            <a:r>
              <a:rPr lang="en-IN" dirty="0"/>
              <a:t>Price Difference </a:t>
            </a:r>
          </a:p>
          <a:p>
            <a:r>
              <a:rPr lang="en-IN" dirty="0"/>
              <a:t>Price Ratio </a:t>
            </a:r>
          </a:p>
          <a:p>
            <a:r>
              <a:rPr lang="en-IN" dirty="0"/>
              <a:t>Sale Month </a:t>
            </a:r>
          </a:p>
          <a:p>
            <a:r>
              <a:rPr lang="en-IN" dirty="0"/>
              <a:t>Sale Quarter </a:t>
            </a:r>
          </a:p>
          <a:p>
            <a:r>
              <a:rPr lang="en-IN" dirty="0"/>
              <a:t>Sale Weekday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36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A157-4391-1DE5-3BCA-15FAC886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7361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Project Workflow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8C2D8-6FE6-CBA1-9394-75467AAA89BF}"/>
              </a:ext>
            </a:extLst>
          </p:cNvPr>
          <p:cNvSpPr txBox="1"/>
          <p:nvPr/>
        </p:nvSpPr>
        <p:spPr>
          <a:xfrm>
            <a:off x="3247697" y="1907628"/>
            <a:ext cx="6999889" cy="4666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C0E9A0-C847-B119-B251-E75125975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3" y="1497723"/>
            <a:ext cx="6999888" cy="536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21F97F-8258-9281-A01E-A96BA41A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79021"/>
          </a:xfrm>
        </p:spPr>
        <p:txBody>
          <a:bodyPr/>
          <a:lstStyle/>
          <a:p>
            <a:r>
              <a:rPr lang="en-US" dirty="0"/>
              <a:t>Data Cleaning &amp; Feature Engineering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4F6B6-51A4-A38F-D49B-829154B2F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3506788" cy="377762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Data Cleaning</a:t>
            </a:r>
          </a:p>
          <a:p>
            <a:r>
              <a:rPr lang="en-IN" dirty="0"/>
              <a:t>Missing Value Handling </a:t>
            </a:r>
          </a:p>
          <a:p>
            <a:r>
              <a:rPr lang="en-IN" dirty="0"/>
              <a:t>Duplicate Removal </a:t>
            </a:r>
          </a:p>
          <a:p>
            <a:r>
              <a:rPr lang="en-IN" dirty="0"/>
              <a:t>Data Type Conversion </a:t>
            </a:r>
          </a:p>
          <a:p>
            <a:r>
              <a:rPr lang="en-IN" dirty="0"/>
              <a:t>Outlier Detection </a:t>
            </a:r>
          </a:p>
          <a:p>
            <a:r>
              <a:rPr lang="en-IN" dirty="0"/>
              <a:t>Data Validation</a:t>
            </a:r>
          </a:p>
          <a:p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940D37A-1D59-8FD0-9C85-44702036605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26024501"/>
              </p:ext>
            </p:extLst>
          </p:nvPr>
        </p:nvGraphicFramePr>
        <p:xfrm>
          <a:off x="6526921" y="2776862"/>
          <a:ext cx="4977690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845">
                  <a:extLst>
                    <a:ext uri="{9D8B030D-6E8A-4147-A177-3AD203B41FA5}">
                      <a16:colId xmlns:a16="http://schemas.microsoft.com/office/drawing/2014/main" val="3035232254"/>
                    </a:ext>
                  </a:extLst>
                </a:gridCol>
                <a:gridCol w="2488845">
                  <a:extLst>
                    <a:ext uri="{9D8B030D-6E8A-4147-A177-3AD203B41FA5}">
                      <a16:colId xmlns:a16="http://schemas.microsoft.com/office/drawing/2014/main" val="121548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41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Vehicle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 Year − Manufacturing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92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Price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Selling Price − MMR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33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Price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Selling Price ÷ MMR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66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Sale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Month(Sale Date)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45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Sale 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Quarter(Sale Date)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0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Sale Weekday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Weekday(Sale Date)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606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3FAF37-FED2-1E1F-1D8E-66DAFAEC4817}"/>
              </a:ext>
            </a:extLst>
          </p:cNvPr>
          <p:cNvSpPr txBox="1"/>
          <p:nvPr/>
        </p:nvSpPr>
        <p:spPr>
          <a:xfrm>
            <a:off x="6684579" y="2133600"/>
            <a:ext cx="350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 Engineering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78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72AA2-7147-6CEE-A428-0F4A9536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42083"/>
          </a:xfrm>
        </p:spPr>
        <p:txBody>
          <a:bodyPr/>
          <a:lstStyle/>
          <a:p>
            <a:pPr algn="ctr"/>
            <a:r>
              <a:rPr lang="en-US" dirty="0"/>
              <a:t>Exploratory Data Analysis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82BE8-9A06-6131-5D09-B9A073261E4C}"/>
              </a:ext>
            </a:extLst>
          </p:cNvPr>
          <p:cNvSpPr txBox="1"/>
          <p:nvPr/>
        </p:nvSpPr>
        <p:spPr>
          <a:xfrm>
            <a:off x="2592924" y="1954924"/>
            <a:ext cx="45330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Exploratory Data Analysis</a:t>
            </a:r>
          </a:p>
          <a:p>
            <a:r>
              <a:rPr lang="en-IN" dirty="0"/>
              <a:t>Visualizations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Distribution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Boxplots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Correlation Heatmap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Monthly Sales Trend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Brand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Seller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Geographic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Vehicle Condition Analysis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E0DD1-9C50-00B7-7848-0B28F329DFF4}"/>
              </a:ext>
            </a:extLst>
          </p:cNvPr>
          <p:cNvSpPr txBox="1"/>
          <p:nvPr/>
        </p:nvSpPr>
        <p:spPr>
          <a:xfrm>
            <a:off x="2592924" y="5103674"/>
            <a:ext cx="68107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Automatic transmission dominates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SUVs and Sedans have the highest sales volume.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 variation exists across brands and states.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Selling price is closely related to MMR.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01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C2EA-2CF5-14F5-19CA-C54A3640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1055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SQL Business Analysis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914BA-801B-B039-4E6B-FA262190385D}"/>
              </a:ext>
            </a:extLst>
          </p:cNvPr>
          <p:cNvSpPr txBox="1"/>
          <p:nvPr/>
        </p:nvSpPr>
        <p:spPr>
          <a:xfrm>
            <a:off x="2920181" y="1932039"/>
            <a:ext cx="38050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SQL Business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KPIs Generated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Vehicles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Selling 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MMR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BE3BA-D7EC-F743-21A5-BE2767C589C4}"/>
              </a:ext>
            </a:extLst>
          </p:cNvPr>
          <p:cNvSpPr txBox="1"/>
          <p:nvPr/>
        </p:nvSpPr>
        <p:spPr>
          <a:xfrm>
            <a:off x="7448805" y="1932039"/>
            <a:ext cx="40558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Brands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Top Sellers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Revenue by State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Monthly 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Premium Vehicles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Body Type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Transmission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Seller Ranking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15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B29C-1A50-9C3E-613C-A0D52248F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9173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Power BI Dashboard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9B42E-B5BA-175A-3442-A2BE6A9300D2}"/>
              </a:ext>
            </a:extLst>
          </p:cNvPr>
          <p:cNvSpPr txBox="1"/>
          <p:nvPr/>
        </p:nvSpPr>
        <p:spPr>
          <a:xfrm>
            <a:off x="2375360" y="1769807"/>
            <a:ext cx="91292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Page 1 Executive Dashboard- </a:t>
            </a:r>
            <a:r>
              <a:rPr lang="en-IN" dirty="0"/>
              <a:t>This dashboard provides an executive summary of the overall automobile resale market.</a:t>
            </a:r>
          </a:p>
          <a:p>
            <a:endParaRPr lang="en-IN" dirty="0"/>
          </a:p>
          <a:p>
            <a:r>
              <a:rPr lang="en-IN" b="1" dirty="0"/>
              <a:t>Page 2 Pricing &amp; Resale Value Analysis- </a:t>
            </a:r>
            <a:r>
              <a:rPr lang="en-IN" dirty="0"/>
              <a:t>This page focuses on pricing </a:t>
            </a:r>
            <a:r>
              <a:rPr lang="en-IN" dirty="0" err="1"/>
              <a:t>behavior</a:t>
            </a:r>
            <a:r>
              <a:rPr lang="en-IN" dirty="0"/>
              <a:t> and resale value compared with market benchmarks.</a:t>
            </a:r>
          </a:p>
          <a:p>
            <a:endParaRPr lang="en-IN" dirty="0"/>
          </a:p>
          <a:p>
            <a:r>
              <a:rPr lang="en-IN" b="1" dirty="0"/>
              <a:t>Page 3 Vehicle performance &amp; Market Intelligence- </a:t>
            </a:r>
            <a:r>
              <a:rPr lang="en-IN" dirty="0"/>
              <a:t>Here we </a:t>
            </a:r>
            <a:r>
              <a:rPr lang="en-IN" dirty="0" err="1"/>
              <a:t>analyze</a:t>
            </a:r>
            <a:r>
              <a:rPr lang="en-IN" dirty="0"/>
              <a:t> how vehicle characteristics influence resale prices.</a:t>
            </a:r>
          </a:p>
          <a:p>
            <a:endParaRPr lang="en-IN" dirty="0"/>
          </a:p>
          <a:p>
            <a:r>
              <a:rPr lang="en-IN" b="1" dirty="0"/>
              <a:t>Page 4 Seller &amp; Geographic Intelligence- </a:t>
            </a:r>
            <a:r>
              <a:rPr lang="en-IN" dirty="0"/>
              <a:t>This dashboard highlights seller performance and regional market trends.</a:t>
            </a:r>
          </a:p>
          <a:p>
            <a:endParaRPr lang="en-IN" dirty="0"/>
          </a:p>
          <a:p>
            <a:r>
              <a:rPr lang="en-IN" b="1" dirty="0"/>
              <a:t>Page 5 Executive Insights &amp; Business Recommendations- </a:t>
            </a:r>
            <a:r>
              <a:rPr lang="en-IN" dirty="0"/>
              <a:t>The final page summarizes key business insights and strategic recommendations derived from the complete analysis.</a:t>
            </a:r>
          </a:p>
        </p:txBody>
      </p:sp>
    </p:spTree>
    <p:extLst>
      <p:ext uri="{BB962C8B-B14F-4D97-AF65-F5344CB8AC3E}">
        <p14:creationId xmlns:p14="http://schemas.microsoft.com/office/powerpoint/2010/main" val="3405735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9AF9-8A69-DC48-7654-2CE0E501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77698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Key Business Insights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BCF4B-F9EC-32FD-E92C-1470F8638B34}"/>
              </a:ext>
            </a:extLst>
          </p:cNvPr>
          <p:cNvSpPr txBox="1"/>
          <p:nvPr/>
        </p:nvSpPr>
        <p:spPr>
          <a:xfrm>
            <a:off x="2182761" y="1769806"/>
            <a:ext cx="48964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Approximately </a:t>
            </a:r>
            <a:r>
              <a:rPr lang="en-IN" b="1" dirty="0"/>
              <a:t>559K</a:t>
            </a:r>
            <a:r>
              <a:rPr lang="en-IN" dirty="0"/>
              <a:t> vehicles </a:t>
            </a:r>
            <a:r>
              <a:rPr lang="en-IN" dirty="0" err="1"/>
              <a:t>analyzed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Vehicles sold approximately </a:t>
            </a:r>
            <a:r>
              <a:rPr lang="en-IN" b="1" dirty="0"/>
              <a:t>$158 below MMR</a:t>
            </a:r>
            <a:r>
              <a:rPr lang="en-IN" dirty="0"/>
              <a:t> on average.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Automatic transmission dominated the market.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Mercedes-Benz, BMW, and Lexus achieved the highest average selling prices.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Vehicle age and mileage reduce resale value.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vehicle condition increases resale value.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Florida and California showed strong premium vehicle demand.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72E173-ACED-ED26-6A45-75F69A0CB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684" y="1709575"/>
            <a:ext cx="4541274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9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DB89C-2782-14EA-1703-F5E3115E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7126263" cy="776987"/>
          </a:xfrm>
        </p:spPr>
        <p:txBody>
          <a:bodyPr>
            <a:normAutofit/>
          </a:bodyPr>
          <a:lstStyle/>
          <a:p>
            <a:r>
              <a:rPr lang="en-US" sz="4000" dirty="0"/>
              <a:t>Business Recommendations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597B1-BEC7-DAC6-5A38-29F37D1AC4E8}"/>
              </a:ext>
            </a:extLst>
          </p:cNvPr>
          <p:cNvSpPr txBox="1"/>
          <p:nvPr/>
        </p:nvSpPr>
        <p:spPr>
          <a:xfrm>
            <a:off x="2696163" y="1849880"/>
            <a:ext cx="55924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Increase inventory of low-mileage vehicles.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Expand premium inventory in high-demand regions.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MMR as the pricing benchmark.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 inventory planning using analytics.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Focus marketing efforts on premium markets.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Promote well-maintained vehicles to maximize resale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781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CBAC-CB25-0481-3C2D-7354F15B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819436" cy="88022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Technologies Used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02B4B-E504-2760-0C96-921D8E7CCA40}"/>
              </a:ext>
            </a:extLst>
          </p:cNvPr>
          <p:cNvSpPr txBox="1"/>
          <p:nvPr/>
        </p:nvSpPr>
        <p:spPr>
          <a:xfrm>
            <a:off x="3141406" y="2138516"/>
            <a:ext cx="47489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🐍 Python</a:t>
            </a:r>
          </a:p>
          <a:p>
            <a:endParaRPr lang="en-IN" dirty="0"/>
          </a:p>
          <a:p>
            <a:r>
              <a:rPr lang="en-IN" dirty="0"/>
              <a:t>🗄 SQL</a:t>
            </a:r>
          </a:p>
          <a:p>
            <a:endParaRPr lang="en-IN" dirty="0"/>
          </a:p>
          <a:p>
            <a:r>
              <a:rPr lang="en-IN" dirty="0"/>
              <a:t>📈 Statistics</a:t>
            </a:r>
          </a:p>
          <a:p>
            <a:endParaRPr lang="en-IN" dirty="0"/>
          </a:p>
          <a:p>
            <a:r>
              <a:rPr lang="en-IN" dirty="0"/>
              <a:t>📊 Power BI</a:t>
            </a:r>
          </a:p>
          <a:p>
            <a:endParaRPr lang="en-IN" dirty="0"/>
          </a:p>
          <a:p>
            <a:r>
              <a:rPr lang="en-IN" dirty="0"/>
              <a:t>📉 Data Visualization</a:t>
            </a:r>
          </a:p>
          <a:p>
            <a:endParaRPr lang="en-IN" dirty="0"/>
          </a:p>
          <a:p>
            <a:r>
              <a:rPr lang="en-IN" dirty="0"/>
              <a:t>🔍 EDA</a:t>
            </a:r>
          </a:p>
          <a:p>
            <a:endParaRPr lang="en-IN" dirty="0"/>
          </a:p>
          <a:p>
            <a:r>
              <a:rPr lang="en-IN" dirty="0"/>
              <a:t>💼 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359571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F97EB0-1A9F-EB98-F71E-F54FEA63262E}"/>
              </a:ext>
            </a:extLst>
          </p:cNvPr>
          <p:cNvSpPr/>
          <p:nvPr/>
        </p:nvSpPr>
        <p:spPr>
          <a:xfrm>
            <a:off x="3303638" y="2288909"/>
            <a:ext cx="620907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6190590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136</TotalTime>
  <Words>557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</vt:lpstr>
      <vt:lpstr>Century Gothic</vt:lpstr>
      <vt:lpstr>DaunPenh</vt:lpstr>
      <vt:lpstr>Wingdings 3</vt:lpstr>
      <vt:lpstr>Wisp</vt:lpstr>
      <vt:lpstr>Data Analytics Project  Automobile Market Analysis </vt:lpstr>
      <vt:lpstr>PowerPoint Presentation</vt:lpstr>
      <vt:lpstr> Project Objectives</vt:lpstr>
      <vt:lpstr>DataSet Overview </vt:lpstr>
      <vt:lpstr>Project Workflow</vt:lpstr>
      <vt:lpstr>Data Cleaning &amp; Feature Engineering</vt:lpstr>
      <vt:lpstr>Exploratory Data Analysis</vt:lpstr>
      <vt:lpstr>SQL Business Analysis</vt:lpstr>
      <vt:lpstr>Power BI Dashboard</vt:lpstr>
      <vt:lpstr>Key Business Insights</vt:lpstr>
      <vt:lpstr>Business Recommendations</vt:lpstr>
      <vt:lpstr>Technologies Used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Tamanna Dagar</dc:creator>
  <cp:lastModifiedBy>Tamanna Dagar</cp:lastModifiedBy>
  <cp:revision>2</cp:revision>
  <dcterms:created xsi:type="dcterms:W3CDTF">2026-07-14T09:37:04Z</dcterms:created>
  <dcterms:modified xsi:type="dcterms:W3CDTF">2026-07-17T14:03:56Z</dcterms:modified>
</cp:coreProperties>
</file>